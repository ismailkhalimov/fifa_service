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64" r:id="rId4"/>
    <p:sldId id="266" r:id="rId5"/>
    <p:sldId id="267" r:id="rId6"/>
    <p:sldId id="269" r:id="rId7"/>
    <p:sldId id="270" r:id="rId8"/>
    <p:sldId id="278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 snapToObjects="1">
      <p:cViewPr varScale="1">
        <p:scale>
          <a:sx n="73" d="100"/>
          <a:sy n="73" d="100"/>
        </p:scale>
        <p:origin x="1070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298544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За 10 минут покажем продукт целиком: зачем он нужен, как устроен, чем сильна рекомендательная часть, и как это выглядит в интерфейсе. Начните с тезиса: это не «просто таблица», а связка БД + сценарии пользователя + ранжирование кандидатов.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30 секунд: задайте вопрос аудитории или приведите короткий пример из жизни клуба. Переход: «Мы автоматизировали часть этого контура в учебном прототипе».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Свяжите с JOIN-ами: игрок + подкласс + страна + зарплата + статистика. Упомяните photo_url: если заполнен — картинка с CDN/S3, иначе локальный плейсхолдер.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Объясните поля на скриншоте: целевая точка — «кого мы хотим», веса — «что важнее». Это прямой ввод в формулу ранжирования, реализованную в SQL.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Сделайте акцент: это главная «научно-инженерная» часть защиты. Подчеркните прозрачность и повторяемость результата.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Поясните: на графике искусственные, но осмысленные профили — расстояние посчитано тем же выражением, что в SQL. Идеальный кандидат даёт ноль, далёкий — большое значение. Это и есть демонстрация «качества» в смысле монотонности и интерпретируемости.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Коротко: это про надёжность демонстрации и скорость UI. Упомяните флаг --report для диагностики загрузки.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B4E446-C994-02FF-2031-6BD593B899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D610C06-8926-D323-FEDC-BEC0A34E296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42CE42E-A92D-C75D-B1F8-0FBBEB490F2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Упростите ER до «скелета»: комиссия видит, почему запросы JOINят Country/City/Stadium/Club и как Player висит на справочниках.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AA91E0-AF87-9070-E59A-E655B815803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7600205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2148840"/>
            <a:ext cx="8438272" cy="189282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AFAFA"/>
                </a:solidFill>
                <a:latin typeface="Segoe UI"/>
              </a:defRPr>
            </a:pPr>
            <a:r>
              <a:rPr lang="ru-RU" dirty="0"/>
              <a:t>Сервис по подбору футболистов</a:t>
            </a:r>
          </a:p>
          <a:p>
            <a:pPr>
              <a:defRPr sz="4000" b="1">
                <a:solidFill>
                  <a:srgbClr val="FAFAFA"/>
                </a:solidFill>
                <a:latin typeface="Segoe UI"/>
              </a:defRPr>
            </a:pPr>
            <a:r>
              <a:rPr lang="ru-RU" dirty="0"/>
              <a:t>Для клубов</a:t>
            </a:r>
            <a:endParaRPr dirty="0"/>
          </a:p>
          <a:p>
            <a:pPr>
              <a:spcBef>
                <a:spcPts val="1800"/>
              </a:spcBef>
              <a:defRPr sz="2200">
                <a:solidFill>
                  <a:srgbClr val="FF4B4B"/>
                </a:solidFill>
                <a:latin typeface="Segoe UI"/>
              </a:defRPr>
            </a:pPr>
            <a:r>
              <a:rPr dirty="0"/>
              <a:t>PostgreSQL · Python · </a:t>
            </a:r>
            <a:r>
              <a:rPr dirty="0" err="1"/>
              <a:t>Streamlit</a:t>
            </a:r>
            <a:endParaRPr dirty="0"/>
          </a:p>
        </p:txBody>
      </p:sp>
      <p:pic>
        <p:nvPicPr>
          <p:cNvPr id="3" name="Google Shape;57;p13">
            <a:extLst>
              <a:ext uri="{FF2B5EF4-FFF2-40B4-BE49-F238E27FC236}">
                <a16:creationId xmlns:a16="http://schemas.microsoft.com/office/drawing/2014/main" id="{8DC06993-060D-C793-40A0-B71349D4EF48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745514" cy="7386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oogle Shape;57;p13">
            <a:extLst>
              <a:ext uri="{FF2B5EF4-FFF2-40B4-BE49-F238E27FC236}">
                <a16:creationId xmlns:a16="http://schemas.microsoft.com/office/drawing/2014/main" id="{8DC06993-060D-C793-40A0-B71349D4EF48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7144"/>
            <a:ext cx="745514" cy="73866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/>
          <p:cNvSpPr txBox="1"/>
          <p:nvPr/>
        </p:nvSpPr>
        <p:spPr>
          <a:xfrm>
            <a:off x="745514" y="320040"/>
            <a:ext cx="11155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FAFAFA"/>
                </a:solidFill>
                <a:latin typeface="Segoe UI"/>
              </a:defRPr>
            </a:pPr>
            <a:r>
              <a:rPr dirty="0" err="1"/>
              <a:t>Зацепка</a:t>
            </a:r>
            <a:r>
              <a:rPr dirty="0"/>
              <a:t>: </a:t>
            </a:r>
            <a:r>
              <a:rPr dirty="0" err="1"/>
              <a:t>что</a:t>
            </a:r>
            <a:r>
              <a:rPr dirty="0"/>
              <a:t> </a:t>
            </a:r>
            <a:r>
              <a:rPr dirty="0" err="1"/>
              <a:t>больше</a:t>
            </a:r>
            <a:r>
              <a:rPr dirty="0"/>
              <a:t> </a:t>
            </a:r>
            <a:r>
              <a:rPr dirty="0" err="1"/>
              <a:t>всего</a:t>
            </a:r>
            <a:r>
              <a:rPr dirty="0"/>
              <a:t> «</a:t>
            </a:r>
            <a:r>
              <a:rPr dirty="0" err="1"/>
              <a:t>стоит</a:t>
            </a:r>
            <a:r>
              <a:rPr dirty="0"/>
              <a:t> </a:t>
            </a:r>
            <a:r>
              <a:rPr dirty="0" err="1"/>
              <a:t>денег</a:t>
            </a:r>
            <a:r>
              <a:rPr dirty="0"/>
              <a:t>» в </a:t>
            </a:r>
            <a:r>
              <a:rPr dirty="0" err="1"/>
              <a:t>скаутинге</a:t>
            </a:r>
            <a:r>
              <a:rPr dirty="0"/>
              <a:t>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143000"/>
            <a:ext cx="11155680" cy="3313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  <a:defRPr sz="2000">
                <a:solidFill>
                  <a:srgbClr val="D2D6DC"/>
                </a:solidFill>
                <a:latin typeface="Segoe UI"/>
              </a:defRPr>
            </a:pPr>
            <a:r>
              <a:rPr sz="2200" dirty="0"/>
              <a:t>Время </a:t>
            </a:r>
            <a:r>
              <a:rPr sz="2200" dirty="0" err="1"/>
              <a:t>аналитика</a:t>
            </a:r>
            <a:r>
              <a:rPr sz="2200" dirty="0"/>
              <a:t> и </a:t>
            </a:r>
            <a:r>
              <a:rPr sz="2200" dirty="0" err="1"/>
              <a:t>ошибка</a:t>
            </a:r>
            <a:r>
              <a:rPr sz="2200" dirty="0"/>
              <a:t> </a:t>
            </a:r>
            <a:r>
              <a:rPr sz="2200" dirty="0" err="1"/>
              <a:t>выбора</a:t>
            </a:r>
            <a:r>
              <a:rPr sz="2200" dirty="0"/>
              <a:t> </a:t>
            </a:r>
            <a:r>
              <a:rPr sz="2200" dirty="0" err="1"/>
              <a:t>игрока</a:t>
            </a:r>
            <a:r>
              <a:rPr sz="2200" dirty="0"/>
              <a:t> </a:t>
            </a:r>
            <a:r>
              <a:rPr sz="2200" dirty="0" err="1"/>
              <a:t>стоят</a:t>
            </a:r>
            <a:r>
              <a:rPr sz="2200" dirty="0"/>
              <a:t> </a:t>
            </a:r>
            <a:r>
              <a:rPr sz="2200" dirty="0" err="1"/>
              <a:t>дороже</a:t>
            </a:r>
            <a:r>
              <a:rPr sz="2200" dirty="0"/>
              <a:t>, </a:t>
            </a:r>
            <a:r>
              <a:rPr sz="2200" dirty="0" err="1"/>
              <a:t>чем</a:t>
            </a:r>
            <a:r>
              <a:rPr sz="2200" dirty="0"/>
              <a:t> </a:t>
            </a:r>
            <a:r>
              <a:rPr sz="2200" dirty="0" err="1"/>
              <a:t>лицензия</a:t>
            </a:r>
            <a:r>
              <a:rPr sz="2200" dirty="0"/>
              <a:t> </a:t>
            </a:r>
            <a:r>
              <a:rPr sz="2200" dirty="0" err="1"/>
              <a:t>на</a:t>
            </a:r>
            <a:r>
              <a:rPr sz="2200" dirty="0"/>
              <a:t> ПО.</a:t>
            </a:r>
            <a:endParaRPr lang="ru-RU" sz="2200" dirty="0"/>
          </a:p>
          <a:p>
            <a:pPr>
              <a:spcAft>
                <a:spcPts val="1000"/>
              </a:spcAft>
              <a:defRPr sz="2000">
                <a:solidFill>
                  <a:srgbClr val="D2D6DC"/>
                </a:solidFill>
                <a:latin typeface="Segoe UI"/>
              </a:defRPr>
            </a:pPr>
            <a:r>
              <a:rPr lang="ru-RU" sz="2200" dirty="0"/>
              <a:t>Веб-приложение для просмотра клубов и игроков, скаутинга по фильтрам и рекомендаций по «идеальной точке».</a:t>
            </a:r>
          </a:p>
          <a:p>
            <a:pPr>
              <a:spcAft>
                <a:spcPts val="1000"/>
              </a:spcAft>
              <a:defRPr sz="2000">
                <a:solidFill>
                  <a:srgbClr val="D2D6DC"/>
                </a:solidFill>
                <a:latin typeface="Segoe UI"/>
              </a:defRPr>
            </a:pPr>
            <a:r>
              <a:rPr lang="ru-RU" sz="2200" dirty="0"/>
              <a:t>Данные живут в </a:t>
            </a:r>
            <a:r>
              <a:rPr lang="ru-RU" sz="2200" dirty="0" err="1"/>
              <a:t>PostgreSQL</a:t>
            </a:r>
            <a:r>
              <a:rPr lang="ru-RU" sz="2200" dirty="0"/>
              <a:t>, логика запросов — в Python (psycopg2), интерфейс — </a:t>
            </a:r>
            <a:r>
              <a:rPr lang="ru-RU" sz="2200" dirty="0" err="1"/>
              <a:t>Streamlit</a:t>
            </a:r>
            <a:r>
              <a:rPr lang="ru-RU" sz="2200" dirty="0"/>
              <a:t>.</a:t>
            </a:r>
          </a:p>
          <a:p>
            <a:pPr>
              <a:spcAft>
                <a:spcPts val="1000"/>
              </a:spcAft>
              <a:defRPr sz="2000">
                <a:solidFill>
                  <a:srgbClr val="D2D6DC"/>
                </a:solidFill>
                <a:latin typeface="Segoe UI"/>
              </a:defRPr>
            </a:pPr>
            <a:r>
              <a:rPr lang="ru-RU" sz="2200" dirty="0"/>
              <a:t>Есть роли пользователя: обычный пользователь, репортёр, администратор — с разным набором действий.</a:t>
            </a:r>
          </a:p>
          <a:p>
            <a:pPr algn="l">
              <a:spcAft>
                <a:spcPts val="1000"/>
              </a:spcAft>
              <a:defRPr sz="2000">
                <a:solidFill>
                  <a:srgbClr val="D2D6DC"/>
                </a:solidFill>
                <a:latin typeface="Segoe UI"/>
              </a:defRPr>
            </a:pPr>
            <a:endParaRPr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oogle Shape;57;p13">
            <a:extLst>
              <a:ext uri="{FF2B5EF4-FFF2-40B4-BE49-F238E27FC236}">
                <a16:creationId xmlns:a16="http://schemas.microsoft.com/office/drawing/2014/main" id="{8DC06993-060D-C793-40A0-B71349D4EF48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745514" cy="73866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/>
          <p:cNvSpPr txBox="1"/>
          <p:nvPr/>
        </p:nvSpPr>
        <p:spPr>
          <a:xfrm>
            <a:off x="849761" y="274320"/>
            <a:ext cx="111556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FAFAFA"/>
                </a:solidFill>
                <a:latin typeface="Segoe UI"/>
              </a:defRPr>
            </a:pPr>
            <a:r>
              <a:rPr dirty="0" err="1"/>
              <a:t>Интерфейс</a:t>
            </a:r>
            <a:r>
              <a:rPr dirty="0"/>
              <a:t>: </a:t>
            </a:r>
            <a:r>
              <a:rPr dirty="0" err="1"/>
              <a:t>карточки</a:t>
            </a:r>
            <a:r>
              <a:rPr dirty="0"/>
              <a:t> </a:t>
            </a:r>
            <a:r>
              <a:rPr dirty="0" err="1"/>
              <a:t>игроков</a:t>
            </a:r>
            <a:r>
              <a:rPr dirty="0"/>
              <a:t> </a:t>
            </a:r>
            <a:r>
              <a:rPr dirty="0" err="1"/>
              <a:t>клуба</a:t>
            </a:r>
            <a:endParaRPr dirty="0"/>
          </a:p>
        </p:txBody>
      </p:sp>
      <p:pic>
        <p:nvPicPr>
          <p:cNvPr id="3" name="Picture 2" descr="c__Users_lirik_AppData_Roaming_Cursor_User_workspaceStorage_001952add7a7b2398fac0ac51653ba62_images_image-7c0f8cd0-d149-4f2b-846c-d200c2730bc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69478" y="960120"/>
            <a:ext cx="7852739" cy="4800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384271" y="292608"/>
            <a:ext cx="7117654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FAFAFA"/>
                </a:solidFill>
                <a:latin typeface="Segoe UI"/>
              </a:defRPr>
            </a:pPr>
            <a:r>
              <a:rPr dirty="0" err="1"/>
              <a:t>Рекомендации</a:t>
            </a:r>
            <a:r>
              <a:rPr dirty="0"/>
              <a:t>: </a:t>
            </a:r>
            <a:r>
              <a:rPr dirty="0" err="1"/>
              <a:t>ввод</a:t>
            </a:r>
            <a:r>
              <a:rPr dirty="0"/>
              <a:t> </a:t>
            </a:r>
            <a:r>
              <a:rPr dirty="0" err="1"/>
              <a:t>цели</a:t>
            </a:r>
            <a:r>
              <a:rPr dirty="0"/>
              <a:t> и </a:t>
            </a:r>
            <a:r>
              <a:rPr dirty="0" err="1"/>
              <a:t>весо</a:t>
            </a:r>
            <a:r>
              <a:rPr lang="ru-RU" dirty="0"/>
              <a:t>в</a:t>
            </a:r>
          </a:p>
        </p:txBody>
      </p:sp>
      <p:pic>
        <p:nvPicPr>
          <p:cNvPr id="3" name="Picture 2" descr="c__Users_lirik_AppData_Roaming_Cursor_User_workspaceStorage_001952add7a7b2398fac0ac51653ba62_images_image-ca8d3f46-4206-4536-8733-d625b5c7ff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31921" y="960120"/>
            <a:ext cx="7727852" cy="4709160"/>
          </a:xfrm>
          <a:prstGeom prst="rect">
            <a:avLst/>
          </a:prstGeom>
        </p:spPr>
      </p:pic>
      <p:pic>
        <p:nvPicPr>
          <p:cNvPr id="4" name="Google Shape;57;p13">
            <a:extLst>
              <a:ext uri="{FF2B5EF4-FFF2-40B4-BE49-F238E27FC236}">
                <a16:creationId xmlns:a16="http://schemas.microsoft.com/office/drawing/2014/main" id="{70835ADA-A49C-5A1B-3010-A05EF3903246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0"/>
            <a:ext cx="745514" cy="7386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60570" y="320040"/>
            <a:ext cx="11155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FAFAFA"/>
                </a:solidFill>
                <a:latin typeface="Segoe UI"/>
              </a:defRPr>
            </a:pPr>
            <a:r>
              <a:rPr dirty="0" err="1"/>
              <a:t>Рекомендательная</a:t>
            </a:r>
            <a:r>
              <a:rPr dirty="0"/>
              <a:t> </a:t>
            </a:r>
            <a:r>
              <a:rPr dirty="0" err="1"/>
              <a:t>система</a:t>
            </a:r>
            <a:r>
              <a:rPr dirty="0"/>
              <a:t>: </a:t>
            </a:r>
            <a:r>
              <a:rPr dirty="0" err="1"/>
              <a:t>что</a:t>
            </a:r>
            <a:r>
              <a:rPr dirty="0"/>
              <a:t> </a:t>
            </a:r>
            <a:r>
              <a:rPr dirty="0" err="1"/>
              <a:t>именно</a:t>
            </a:r>
            <a:r>
              <a:rPr dirty="0"/>
              <a:t> </a:t>
            </a:r>
            <a:r>
              <a:rPr dirty="0" err="1"/>
              <a:t>реализовано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502920" y="1143000"/>
            <a:ext cx="11155680" cy="45858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  <a:defRPr sz="2000">
                <a:solidFill>
                  <a:srgbClr val="D2D6DC"/>
                </a:solidFill>
                <a:latin typeface="Segoe UI"/>
              </a:defRPr>
            </a:pPr>
            <a:r>
              <a:rPr sz="2200" dirty="0" err="1"/>
              <a:t>Bзвешенное</a:t>
            </a:r>
            <a:r>
              <a:rPr sz="2200" dirty="0"/>
              <a:t> </a:t>
            </a:r>
            <a:r>
              <a:rPr sz="2200" dirty="0" err="1"/>
              <a:t>расстояние</a:t>
            </a:r>
            <a:r>
              <a:rPr sz="2200" dirty="0"/>
              <a:t> </a:t>
            </a:r>
            <a:r>
              <a:rPr sz="2200" dirty="0" err="1"/>
              <a:t>до</a:t>
            </a:r>
            <a:r>
              <a:rPr sz="2200" dirty="0"/>
              <a:t> </a:t>
            </a:r>
            <a:r>
              <a:rPr sz="2200" dirty="0" err="1"/>
              <a:t>целевой</a:t>
            </a:r>
            <a:r>
              <a:rPr sz="2200" dirty="0"/>
              <a:t> </a:t>
            </a:r>
            <a:r>
              <a:rPr sz="2200" dirty="0" err="1"/>
              <a:t>точки</a:t>
            </a:r>
            <a:r>
              <a:rPr sz="2200" dirty="0"/>
              <a:t> </a:t>
            </a:r>
            <a:r>
              <a:rPr sz="2200" dirty="0" err="1"/>
              <a:t>по</a:t>
            </a:r>
            <a:r>
              <a:rPr sz="2200" dirty="0"/>
              <a:t> </a:t>
            </a:r>
            <a:r>
              <a:rPr sz="2200" dirty="0" err="1"/>
              <a:t>возрасту</a:t>
            </a:r>
            <a:r>
              <a:rPr sz="2200" dirty="0"/>
              <a:t>, </a:t>
            </a:r>
            <a:r>
              <a:rPr sz="2200" dirty="0" err="1"/>
              <a:t>зарплате</a:t>
            </a:r>
            <a:r>
              <a:rPr sz="2200" dirty="0"/>
              <a:t>, </a:t>
            </a:r>
            <a:r>
              <a:rPr sz="2200" dirty="0" err="1"/>
              <a:t>голам</a:t>
            </a:r>
            <a:r>
              <a:rPr sz="2200" dirty="0"/>
              <a:t> и </a:t>
            </a:r>
            <a:r>
              <a:rPr sz="2200" dirty="0" err="1"/>
              <a:t>передачам</a:t>
            </a:r>
            <a:r>
              <a:rPr sz="2200" dirty="0"/>
              <a:t>.</a:t>
            </a:r>
          </a:p>
          <a:p>
            <a:pPr algn="l">
              <a:spcAft>
                <a:spcPts val="1000"/>
              </a:spcAft>
              <a:defRPr sz="2000">
                <a:solidFill>
                  <a:srgbClr val="D2D6DC"/>
                </a:solidFill>
                <a:latin typeface="Segoe UI"/>
              </a:defRPr>
            </a:pPr>
            <a:r>
              <a:rPr sz="2200" dirty="0"/>
              <a:t>Кандидаты </a:t>
            </a:r>
            <a:r>
              <a:rPr sz="2200" dirty="0" err="1"/>
              <a:t>сначала</a:t>
            </a:r>
            <a:r>
              <a:rPr sz="2200" dirty="0"/>
              <a:t> </a:t>
            </a:r>
            <a:r>
              <a:rPr sz="2200" dirty="0" err="1"/>
              <a:t>сужаются</a:t>
            </a:r>
            <a:r>
              <a:rPr sz="2200" dirty="0"/>
              <a:t> </a:t>
            </a:r>
            <a:r>
              <a:rPr sz="2200" dirty="0" err="1"/>
              <a:t>теми</a:t>
            </a:r>
            <a:r>
              <a:rPr sz="2200" dirty="0"/>
              <a:t> </a:t>
            </a:r>
            <a:r>
              <a:rPr sz="2200" dirty="0" err="1"/>
              <a:t>же</a:t>
            </a:r>
            <a:r>
              <a:rPr sz="2200" dirty="0"/>
              <a:t> </a:t>
            </a:r>
            <a:r>
              <a:rPr sz="2200" dirty="0" err="1"/>
              <a:t>фильтрами</a:t>
            </a:r>
            <a:r>
              <a:rPr sz="2200" dirty="0"/>
              <a:t>, </a:t>
            </a:r>
            <a:r>
              <a:rPr sz="2200" dirty="0" err="1"/>
              <a:t>что</a:t>
            </a:r>
            <a:r>
              <a:rPr sz="2200" dirty="0"/>
              <a:t> и в </a:t>
            </a:r>
            <a:r>
              <a:rPr sz="2200" dirty="0" err="1"/>
              <a:t>скауте</a:t>
            </a:r>
            <a:r>
              <a:rPr sz="2200" dirty="0"/>
              <a:t> — </a:t>
            </a:r>
            <a:r>
              <a:rPr sz="2200" dirty="0" err="1"/>
              <a:t>единая</a:t>
            </a:r>
            <a:r>
              <a:rPr sz="2200" dirty="0"/>
              <a:t> </a:t>
            </a:r>
            <a:r>
              <a:rPr sz="2200" dirty="0" err="1"/>
              <a:t>бизнес-логика</a:t>
            </a:r>
            <a:r>
              <a:rPr sz="2200" dirty="0"/>
              <a:t> </a:t>
            </a:r>
            <a:r>
              <a:rPr sz="2200" dirty="0" err="1"/>
              <a:t>отбора</a:t>
            </a:r>
            <a:r>
              <a:rPr sz="2200" dirty="0"/>
              <a:t>.</a:t>
            </a:r>
          </a:p>
          <a:p>
            <a:pPr algn="l">
              <a:spcAft>
                <a:spcPts val="1000"/>
              </a:spcAft>
              <a:defRPr sz="2000">
                <a:solidFill>
                  <a:srgbClr val="D2D6DC"/>
                </a:solidFill>
                <a:latin typeface="Segoe UI"/>
              </a:defRPr>
            </a:pPr>
            <a:r>
              <a:rPr sz="2200" dirty="0" err="1"/>
              <a:t>Итог</a:t>
            </a:r>
            <a:r>
              <a:rPr sz="2200" dirty="0"/>
              <a:t>: </a:t>
            </a:r>
            <a:r>
              <a:rPr sz="2200" dirty="0" err="1"/>
              <a:t>список</a:t>
            </a:r>
            <a:r>
              <a:rPr sz="2200" dirty="0"/>
              <a:t> </a:t>
            </a:r>
            <a:r>
              <a:rPr sz="2200" dirty="0" err="1"/>
              <a:t>игроков</a:t>
            </a:r>
            <a:r>
              <a:rPr sz="2200" dirty="0"/>
              <a:t>, </a:t>
            </a:r>
            <a:r>
              <a:rPr sz="2200" dirty="0" err="1"/>
              <a:t>отсортированный</a:t>
            </a:r>
            <a:r>
              <a:rPr sz="2200" dirty="0"/>
              <a:t> </a:t>
            </a:r>
            <a:r>
              <a:rPr sz="2200" dirty="0" err="1"/>
              <a:t>по</a:t>
            </a:r>
            <a:r>
              <a:rPr sz="2200" dirty="0"/>
              <a:t> </a:t>
            </a:r>
            <a:r>
              <a:rPr sz="2200" dirty="0" err="1"/>
              <a:t>возрастанию</a:t>
            </a:r>
            <a:r>
              <a:rPr sz="2200" dirty="0"/>
              <a:t> </a:t>
            </a:r>
            <a:r>
              <a:rPr sz="2200" dirty="0" err="1"/>
              <a:t>расстояния</a:t>
            </a:r>
            <a:r>
              <a:rPr sz="2200" dirty="0"/>
              <a:t> (</a:t>
            </a:r>
            <a:r>
              <a:rPr sz="2200" dirty="0" err="1"/>
              <a:t>чем</a:t>
            </a:r>
            <a:r>
              <a:rPr sz="2200" dirty="0"/>
              <a:t> </a:t>
            </a:r>
            <a:r>
              <a:rPr sz="2200" dirty="0" err="1"/>
              <a:t>меньше</a:t>
            </a:r>
            <a:r>
              <a:rPr sz="2200" dirty="0"/>
              <a:t> — </a:t>
            </a:r>
            <a:r>
              <a:rPr sz="2200" dirty="0" err="1"/>
              <a:t>тем</a:t>
            </a:r>
            <a:r>
              <a:rPr sz="2200" dirty="0"/>
              <a:t> </a:t>
            </a:r>
            <a:r>
              <a:rPr sz="2200" dirty="0" err="1"/>
              <a:t>ближе</a:t>
            </a:r>
            <a:r>
              <a:rPr sz="2200" dirty="0"/>
              <a:t> к </a:t>
            </a:r>
            <a:r>
              <a:rPr sz="2200" dirty="0" err="1"/>
              <a:t>цели</a:t>
            </a:r>
            <a:r>
              <a:rPr sz="2200" dirty="0"/>
              <a:t>).</a:t>
            </a:r>
            <a:endParaRPr lang="ru-RU" sz="2200" dirty="0"/>
          </a:p>
          <a:p>
            <a:pPr algn="l">
              <a:spcAft>
                <a:spcPts val="1000"/>
              </a:spcAft>
              <a:defRPr sz="2000">
                <a:solidFill>
                  <a:srgbClr val="D2D6DC"/>
                </a:solidFill>
                <a:latin typeface="Segoe UI"/>
              </a:defRPr>
            </a:pPr>
            <a:r>
              <a:rPr lang="ru-RU" sz="2200" b="1" dirty="0">
                <a:solidFill>
                  <a:schemeClr val="bg1"/>
                </a:solidFill>
              </a:rPr>
              <a:t>Формула расстояния:</a:t>
            </a:r>
          </a:p>
          <a:p>
            <a:pPr>
              <a:spcAft>
                <a:spcPts val="1000"/>
              </a:spcAft>
              <a:defRPr sz="2000">
                <a:solidFill>
                  <a:srgbClr val="D2D6DC"/>
                </a:solidFill>
                <a:latin typeface="Segoe UI"/>
              </a:defRPr>
            </a:pPr>
            <a:r>
              <a:rPr lang="ru-RU" sz="2200" dirty="0"/>
              <a:t>d = </a:t>
            </a:r>
            <a:r>
              <a:rPr lang="ru-RU" sz="2200" dirty="0" err="1"/>
              <a:t>wвозраст</a:t>
            </a:r>
            <a:r>
              <a:rPr lang="ru-RU" sz="2200" dirty="0"/>
              <a:t>·|возраст−цель|/40 + </a:t>
            </a:r>
            <a:r>
              <a:rPr lang="ru-RU" sz="2200" dirty="0" err="1"/>
              <a:t>wзарплата</a:t>
            </a:r>
            <a:r>
              <a:rPr lang="ru-RU" sz="2200" dirty="0"/>
              <a:t>·|зарплата−цель|/50 000 000</a:t>
            </a:r>
          </a:p>
          <a:p>
            <a:pPr>
              <a:spcAft>
                <a:spcPts val="1000"/>
              </a:spcAft>
              <a:defRPr sz="2000">
                <a:solidFill>
                  <a:srgbClr val="D2D6DC"/>
                </a:solidFill>
                <a:latin typeface="Segoe UI"/>
              </a:defRPr>
            </a:pPr>
            <a:r>
              <a:rPr lang="ru-RU" sz="2200" dirty="0"/>
              <a:t>  + </a:t>
            </a:r>
            <a:r>
              <a:rPr lang="ru-RU" sz="2200" dirty="0" err="1"/>
              <a:t>wголы</a:t>
            </a:r>
            <a:r>
              <a:rPr lang="ru-RU" sz="2200" dirty="0"/>
              <a:t>·|голы−цель|/30 + </a:t>
            </a:r>
            <a:r>
              <a:rPr lang="ru-RU" sz="2200" dirty="0" err="1"/>
              <a:t>wпередачи</a:t>
            </a:r>
            <a:r>
              <a:rPr lang="ru-RU" sz="2200" dirty="0"/>
              <a:t>·|передачи−цель|/25</a:t>
            </a:r>
          </a:p>
          <a:p>
            <a:pPr>
              <a:spcAft>
                <a:spcPts val="1000"/>
              </a:spcAft>
              <a:defRPr sz="2000">
                <a:solidFill>
                  <a:srgbClr val="D2D6DC"/>
                </a:solidFill>
                <a:latin typeface="Segoe UI"/>
              </a:defRPr>
            </a:pPr>
            <a:r>
              <a:rPr lang="ru-RU" sz="2200" dirty="0"/>
              <a:t>Нормировки подобраны под реалистичные масштабы величин (как в подписи интерфейса).</a:t>
            </a:r>
          </a:p>
        </p:txBody>
      </p:sp>
      <p:pic>
        <p:nvPicPr>
          <p:cNvPr id="4" name="Google Shape;57;p13">
            <a:extLst>
              <a:ext uri="{FF2B5EF4-FFF2-40B4-BE49-F238E27FC236}">
                <a16:creationId xmlns:a16="http://schemas.microsoft.com/office/drawing/2014/main" id="{6C175015-BB36-0DAE-371C-FE27F24EBF39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745514" cy="7386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91499" y="292608"/>
            <a:ext cx="111556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FAFAFA"/>
                </a:solidFill>
                <a:latin typeface="Segoe UI"/>
              </a:defRPr>
            </a:pPr>
            <a:r>
              <a:rPr dirty="0" err="1"/>
              <a:t>График</a:t>
            </a:r>
            <a:r>
              <a:rPr dirty="0"/>
              <a:t>: </a:t>
            </a:r>
            <a:r>
              <a:rPr dirty="0" err="1"/>
              <a:t>как</a:t>
            </a:r>
            <a:r>
              <a:rPr dirty="0"/>
              <a:t> </a:t>
            </a:r>
            <a:r>
              <a:rPr dirty="0" err="1"/>
              <a:t>метрика</a:t>
            </a:r>
            <a:r>
              <a:rPr dirty="0"/>
              <a:t> </a:t>
            </a:r>
            <a:r>
              <a:rPr dirty="0" err="1"/>
              <a:t>ранжирует</a:t>
            </a:r>
            <a:r>
              <a:rPr dirty="0"/>
              <a:t> </a:t>
            </a:r>
            <a:r>
              <a:rPr dirty="0" err="1"/>
              <a:t>кандидатов</a:t>
            </a:r>
            <a:endParaRPr dirty="0"/>
          </a:p>
        </p:txBody>
      </p:sp>
      <p:pic>
        <p:nvPicPr>
          <p:cNvPr id="3" name="Picture 2" descr="presentation_recommender_quali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6403" y="960120"/>
            <a:ext cx="8178888" cy="4617720"/>
          </a:xfrm>
          <a:prstGeom prst="rect">
            <a:avLst/>
          </a:prstGeom>
        </p:spPr>
      </p:pic>
      <p:pic>
        <p:nvPicPr>
          <p:cNvPr id="4" name="Google Shape;57;p13">
            <a:extLst>
              <a:ext uri="{FF2B5EF4-FFF2-40B4-BE49-F238E27FC236}">
                <a16:creationId xmlns:a16="http://schemas.microsoft.com/office/drawing/2014/main" id="{07C68221-2988-CEF2-535E-C38877C0A2D7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0"/>
            <a:ext cx="745514" cy="7386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49457" y="320040"/>
            <a:ext cx="11155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FAFAFA"/>
                </a:solidFill>
                <a:latin typeface="Segoe UI"/>
              </a:defRPr>
            </a:pPr>
            <a:r>
              <a:rPr dirty="0" err="1"/>
              <a:t>Медиа-контур</a:t>
            </a:r>
            <a:r>
              <a:rPr dirty="0"/>
              <a:t> (</a:t>
            </a:r>
            <a:r>
              <a:rPr dirty="0" err="1"/>
              <a:t>фото</a:t>
            </a:r>
            <a:r>
              <a:rPr dirty="0"/>
              <a:t> </a:t>
            </a:r>
            <a:r>
              <a:rPr dirty="0" err="1"/>
              <a:t>игроков</a:t>
            </a:r>
            <a:r>
              <a:rPr dirty="0"/>
              <a:t>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143000"/>
            <a:ext cx="11155680" cy="23801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  <a:defRPr sz="2000">
                <a:solidFill>
                  <a:srgbClr val="D2D6DC"/>
                </a:solidFill>
                <a:latin typeface="Segoe UI"/>
              </a:defRPr>
            </a:pPr>
            <a:r>
              <a:rPr sz="2200" dirty="0" err="1"/>
              <a:t>Одноразовый</a:t>
            </a:r>
            <a:r>
              <a:rPr sz="2200" dirty="0"/>
              <a:t> </a:t>
            </a:r>
            <a:r>
              <a:rPr sz="2200" dirty="0" err="1"/>
              <a:t>скрипт</a:t>
            </a:r>
            <a:r>
              <a:rPr sz="2200" dirty="0"/>
              <a:t> upload_player_photos_to_s3.py </a:t>
            </a:r>
            <a:r>
              <a:rPr sz="2200" dirty="0" err="1"/>
              <a:t>обходит</a:t>
            </a:r>
            <a:r>
              <a:rPr sz="2200" dirty="0"/>
              <a:t> </a:t>
            </a:r>
            <a:r>
              <a:rPr sz="2200" dirty="0" err="1"/>
              <a:t>только</a:t>
            </a:r>
            <a:r>
              <a:rPr sz="2200" dirty="0"/>
              <a:t> </a:t>
            </a:r>
            <a:r>
              <a:rPr sz="2200" dirty="0" err="1"/>
              <a:t>игроков</a:t>
            </a:r>
            <a:r>
              <a:rPr sz="2200" dirty="0"/>
              <a:t> </a:t>
            </a:r>
            <a:r>
              <a:rPr sz="2200" dirty="0" err="1"/>
              <a:t>из</a:t>
            </a:r>
            <a:r>
              <a:rPr sz="2200" dirty="0"/>
              <a:t> </a:t>
            </a:r>
            <a:r>
              <a:rPr sz="2200" dirty="0" err="1"/>
              <a:t>таблицы</a:t>
            </a:r>
            <a:r>
              <a:rPr sz="2200" dirty="0"/>
              <a:t> player.</a:t>
            </a:r>
          </a:p>
          <a:p>
            <a:pPr algn="l">
              <a:spcAft>
                <a:spcPts val="1000"/>
              </a:spcAft>
              <a:defRPr sz="2000">
                <a:solidFill>
                  <a:srgbClr val="D2D6DC"/>
                </a:solidFill>
                <a:latin typeface="Segoe UI"/>
              </a:defRPr>
            </a:pPr>
            <a:r>
              <a:rPr sz="2200" dirty="0"/>
              <a:t>Источники </a:t>
            </a:r>
            <a:r>
              <a:rPr sz="2200" dirty="0" err="1"/>
              <a:t>по</a:t>
            </a:r>
            <a:r>
              <a:rPr sz="2200" dirty="0"/>
              <a:t> </a:t>
            </a:r>
            <a:r>
              <a:rPr sz="2200" dirty="0" err="1"/>
              <a:t>порядку</a:t>
            </a:r>
            <a:r>
              <a:rPr sz="2200" dirty="0"/>
              <a:t>: Sports.ru → Wikipedia; </a:t>
            </a:r>
            <a:r>
              <a:rPr sz="2200" dirty="0" err="1"/>
              <a:t>при</a:t>
            </a:r>
            <a:r>
              <a:rPr sz="2200" dirty="0"/>
              <a:t> </a:t>
            </a:r>
            <a:r>
              <a:rPr sz="2200" dirty="0" err="1"/>
              <a:t>отсутствии</a:t>
            </a:r>
            <a:r>
              <a:rPr sz="2200" dirty="0"/>
              <a:t> </a:t>
            </a:r>
            <a:r>
              <a:rPr sz="2200" dirty="0" err="1"/>
              <a:t>фото</a:t>
            </a:r>
            <a:r>
              <a:rPr sz="2200" dirty="0"/>
              <a:t> </a:t>
            </a:r>
            <a:r>
              <a:rPr sz="2200" dirty="0" err="1"/>
              <a:t>поле</a:t>
            </a:r>
            <a:r>
              <a:rPr sz="2200" dirty="0"/>
              <a:t> </a:t>
            </a:r>
            <a:r>
              <a:rPr sz="2200" dirty="0" err="1"/>
              <a:t>photo_url</a:t>
            </a:r>
            <a:r>
              <a:rPr sz="2200" dirty="0"/>
              <a:t> </a:t>
            </a:r>
            <a:r>
              <a:rPr sz="2200" dirty="0" err="1"/>
              <a:t>остаётся</a:t>
            </a:r>
            <a:r>
              <a:rPr sz="2200" dirty="0"/>
              <a:t> </a:t>
            </a:r>
            <a:r>
              <a:rPr sz="2200" dirty="0" err="1"/>
              <a:t>пустым</a:t>
            </a:r>
            <a:r>
              <a:rPr sz="2200" dirty="0"/>
              <a:t>.</a:t>
            </a:r>
          </a:p>
          <a:p>
            <a:pPr algn="l">
              <a:spcAft>
                <a:spcPts val="1000"/>
              </a:spcAft>
              <a:defRPr sz="2000">
                <a:solidFill>
                  <a:srgbClr val="D2D6DC"/>
                </a:solidFill>
                <a:latin typeface="Segoe UI"/>
              </a:defRPr>
            </a:pPr>
            <a:r>
              <a:rPr sz="2200" dirty="0" err="1"/>
              <a:t>Интерфейс</a:t>
            </a:r>
            <a:r>
              <a:rPr sz="2200" dirty="0"/>
              <a:t> </a:t>
            </a:r>
            <a:r>
              <a:rPr sz="2200" dirty="0" err="1"/>
              <a:t>не</a:t>
            </a:r>
            <a:r>
              <a:rPr sz="2200" dirty="0"/>
              <a:t> </a:t>
            </a:r>
            <a:r>
              <a:rPr sz="2200" dirty="0" err="1"/>
              <a:t>ходит</a:t>
            </a:r>
            <a:r>
              <a:rPr sz="2200" dirty="0"/>
              <a:t> </a:t>
            </a:r>
            <a:r>
              <a:rPr sz="2200" dirty="0" err="1"/>
              <a:t>на</a:t>
            </a:r>
            <a:r>
              <a:rPr sz="2200" dirty="0"/>
              <a:t> </a:t>
            </a:r>
            <a:r>
              <a:rPr sz="2200" dirty="0" err="1"/>
              <a:t>внешние</a:t>
            </a:r>
            <a:r>
              <a:rPr sz="2200" dirty="0"/>
              <a:t> </a:t>
            </a:r>
            <a:r>
              <a:rPr sz="2200" dirty="0" err="1"/>
              <a:t>сайты</a:t>
            </a:r>
            <a:r>
              <a:rPr sz="2200" dirty="0"/>
              <a:t> </a:t>
            </a:r>
            <a:r>
              <a:rPr sz="2200" dirty="0" err="1"/>
              <a:t>при</a:t>
            </a:r>
            <a:r>
              <a:rPr sz="2200" dirty="0"/>
              <a:t> </a:t>
            </a:r>
            <a:r>
              <a:rPr sz="2200" dirty="0" err="1"/>
              <a:t>каждом</a:t>
            </a:r>
            <a:r>
              <a:rPr sz="2200" dirty="0"/>
              <a:t> </a:t>
            </a:r>
            <a:r>
              <a:rPr sz="2200" dirty="0" err="1"/>
              <a:t>открытии</a:t>
            </a:r>
            <a:r>
              <a:rPr sz="2200" dirty="0"/>
              <a:t> — </a:t>
            </a:r>
            <a:r>
              <a:rPr sz="2200" dirty="0" err="1"/>
              <a:t>только</a:t>
            </a:r>
            <a:r>
              <a:rPr sz="2200" dirty="0"/>
              <a:t> </a:t>
            </a:r>
            <a:r>
              <a:rPr sz="2200" dirty="0" err="1"/>
              <a:t>по</a:t>
            </a:r>
            <a:r>
              <a:rPr sz="2200" dirty="0"/>
              <a:t> </a:t>
            </a:r>
            <a:r>
              <a:rPr sz="2200" dirty="0" err="1"/>
              <a:t>сохранённому</a:t>
            </a:r>
            <a:r>
              <a:rPr sz="2200" dirty="0"/>
              <a:t> URL.</a:t>
            </a:r>
          </a:p>
        </p:txBody>
      </p:sp>
      <p:pic>
        <p:nvPicPr>
          <p:cNvPr id="4" name="Google Shape;57;p13">
            <a:extLst>
              <a:ext uri="{FF2B5EF4-FFF2-40B4-BE49-F238E27FC236}">
                <a16:creationId xmlns:a16="http://schemas.microsoft.com/office/drawing/2014/main" id="{E5AE11D7-CF9D-987D-A451-B617BD9AB4CE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745514" cy="7386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CC5E91-5545-BA5A-FC67-97E7B09F12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oogle Shape;57;p13">
            <a:extLst>
              <a:ext uri="{FF2B5EF4-FFF2-40B4-BE49-F238E27FC236}">
                <a16:creationId xmlns:a16="http://schemas.microsoft.com/office/drawing/2014/main" id="{EB20F737-F7A2-9780-3C04-0ED99AA3564F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745514" cy="73866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3063F2C-3F50-2B0F-D37D-512A6AE94E8B}"/>
              </a:ext>
            </a:extLst>
          </p:cNvPr>
          <p:cNvSpPr txBox="1"/>
          <p:nvPr/>
        </p:nvSpPr>
        <p:spPr>
          <a:xfrm>
            <a:off x="3683482" y="630942"/>
            <a:ext cx="482503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AFAFA"/>
                </a:solidFill>
                <a:latin typeface="Segoe UI"/>
              </a:defRPr>
            </a:pPr>
            <a:r>
              <a:rPr lang="en-US" dirty="0"/>
              <a:t>QR-</a:t>
            </a:r>
            <a:r>
              <a:rPr lang="ru-RU" dirty="0"/>
              <a:t>код с репозиторием</a:t>
            </a:r>
            <a:endParaRPr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7EEFD4CB-48D3-053E-4DFB-CBD33F99664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92769" y="1610711"/>
            <a:ext cx="4406462" cy="4406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07769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512</Words>
  <Application>Microsoft Office PowerPoint</Application>
  <PresentationFormat>Широкоэкранный</PresentationFormat>
  <Paragraphs>32</Paragraphs>
  <Slides>8</Slides>
  <Notes>8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Исмаил Халимов</dc:creator>
  <cp:keywords/>
  <dc:description>generated using python-pptx</dc:description>
  <cp:lastModifiedBy>B5099</cp:lastModifiedBy>
  <cp:revision>3</cp:revision>
  <dcterms:created xsi:type="dcterms:W3CDTF">2013-01-27T09:14:16Z</dcterms:created>
  <dcterms:modified xsi:type="dcterms:W3CDTF">2026-05-09T09:46:59Z</dcterms:modified>
  <cp:category/>
</cp:coreProperties>
</file>